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9966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34D399"/>
                </a:solidFill>
                <a:latin typeface="Segoe UI"/>
              </a:defRPr>
            </a:pPr>
            <a:r>
              <a:t>FRANCHISEIQ</a:t>
            </a:r>
          </a:p>
          <a:p>
            <a:pPr>
              <a:spcBef>
                <a:spcPts val="600"/>
              </a:spcBef>
              <a:defRPr sz="2000" b="1">
                <a:solidFill>
                  <a:srgbClr val="FFFFFF"/>
                </a:solidFill>
                <a:latin typeface="Segoe UI"/>
              </a:defRPr>
            </a:pPr>
            <a:r>
              <a:t>SMART INDIA HACKATHON 2025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377440"/>
            <a:ext cx="9966960" cy="3291840"/>
          </a:xfrm>
          <a:prstGeom prst="roundRect">
            <a:avLst/>
          </a:prstGeom>
          <a:solidFill>
            <a:srgbClr val="0C121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20040"/>
          <a:lstStyle/>
          <a:p>
            <a:pPr algn="ctr">
              <a:spcBef>
                <a:spcPts val="0"/>
              </a:spcBef>
            </a:pPr>
            <a:r>
              <a:rPr sz="1400" b="1">
                <a:solidFill>
                  <a:srgbClr val="10B981"/>
                </a:solidFill>
              </a:rPr>
              <a:t>•  </a:t>
            </a:r>
            <a:r>
              <a:rPr sz="1400" b="1">
                <a:solidFill>
                  <a:srgbClr val="FFFFFF"/>
                </a:solidFill>
                <a:latin typeface="Segoe UI"/>
              </a:rPr>
              <a:t>Problem Statement ID: </a:t>
            </a:r>
            <a:r>
              <a:rPr sz="1400">
                <a:solidFill>
                  <a:srgbClr val="34D399"/>
                </a:solidFill>
                <a:latin typeface="Segoe UI"/>
              </a:rPr>
              <a:t>SIH-2025-AI-01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10B981"/>
                </a:solidFill>
              </a:rPr>
              <a:t>•  </a:t>
            </a:r>
            <a:r>
              <a:rPr sz="1400" b="1">
                <a:solidFill>
                  <a:srgbClr val="FFFFFF"/>
                </a:solidFill>
                <a:latin typeface="Segoe UI"/>
              </a:rPr>
              <a:t>Problem Statement Title: </a:t>
            </a:r>
            <a:r>
              <a:rPr sz="1400">
                <a:solidFill>
                  <a:srgbClr val="34D399"/>
                </a:solidFill>
                <a:latin typeface="Segoe UI"/>
              </a:rPr>
              <a:t>FRANCHISEIQ: AI-Powered Franchise Investment Intelligence &amp; Unit Economics Validation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10B981"/>
                </a:solidFill>
              </a:rPr>
              <a:t>•  </a:t>
            </a:r>
            <a:r>
              <a:rPr sz="1400" b="1">
                <a:solidFill>
                  <a:srgbClr val="FFFFFF"/>
                </a:solidFill>
                <a:latin typeface="Segoe UI"/>
              </a:rPr>
              <a:t>Theme: </a:t>
            </a:r>
            <a:r>
              <a:rPr sz="1400">
                <a:solidFill>
                  <a:srgbClr val="94A3B8"/>
                </a:solidFill>
                <a:latin typeface="Segoe UI"/>
              </a:rPr>
              <a:t>AI / Technology &amp; FinTech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10B981"/>
                </a:solidFill>
              </a:rPr>
              <a:t>•  </a:t>
            </a:r>
            <a:r>
              <a:rPr sz="1400" b="1">
                <a:solidFill>
                  <a:srgbClr val="FFFFFF"/>
                </a:solidFill>
                <a:latin typeface="Segoe UI"/>
              </a:rPr>
              <a:t>PS Category: </a:t>
            </a:r>
            <a:r>
              <a:rPr sz="1400">
                <a:solidFill>
                  <a:srgbClr val="94A3B8"/>
                </a:solidFill>
                <a:latin typeface="Segoe UI"/>
              </a:rPr>
              <a:t>Software (Web, Mobile PWA, Enterprise Analytics)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10B981"/>
                </a:solidFill>
              </a:rPr>
              <a:t>•  </a:t>
            </a:r>
            <a:r>
              <a:rPr sz="1400" b="1">
                <a:solidFill>
                  <a:srgbClr val="FFFFFF"/>
                </a:solidFill>
                <a:latin typeface="Segoe UI"/>
              </a:rPr>
              <a:t>Team ID: </a:t>
            </a:r>
            <a:r>
              <a:rPr sz="1400">
                <a:solidFill>
                  <a:srgbClr val="94A3B8"/>
                </a:solidFill>
                <a:latin typeface="Segoe UI"/>
              </a:rPr>
              <a:t>SIH2025-TITANS-8842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10B981"/>
                </a:solidFill>
              </a:rPr>
              <a:t>•  </a:t>
            </a:r>
            <a:r>
              <a:rPr sz="1400" b="1">
                <a:solidFill>
                  <a:srgbClr val="FFFFFF"/>
                </a:solidFill>
                <a:latin typeface="Segoe UI"/>
              </a:rPr>
              <a:t>Team Name (Registered on portal): </a:t>
            </a:r>
            <a:r>
              <a:rPr sz="1400">
                <a:solidFill>
                  <a:srgbClr val="94A3B8"/>
                </a:solidFill>
                <a:latin typeface="Segoe UI"/>
              </a:rPr>
              <a:t>Hack Titans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10B981"/>
                </a:solidFill>
              </a:rPr>
              <a:t>•  </a:t>
            </a:r>
            <a:r>
              <a:rPr sz="1400" b="1">
                <a:solidFill>
                  <a:srgbClr val="FFFFFF"/>
                </a:solidFill>
                <a:latin typeface="Segoe UI"/>
              </a:rPr>
              <a:t>Leadership &amp; Architecture: </a:t>
            </a:r>
            <a:r>
              <a:rPr sz="1400">
                <a:solidFill>
                  <a:srgbClr val="94A3B8"/>
                </a:solidFill>
                <a:latin typeface="Segoe UI"/>
              </a:rPr>
              <a:t>Host: Charan (Project Creator &amp; Lead Architect)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121929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❖  FRANCHISEIQ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Proposed Solution (Describe your Idea/Solution/Prototype)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An intelligent verification platform where franchise claims meet rigorous ground-reality economics.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5486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2 @ SIH Idea submission -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309360"/>
            <a:ext cx="3657600" cy="320040"/>
          </a:xfrm>
          <a:prstGeom prst="rect">
            <a:avLst/>
          </a:prstGeom>
          <a:noFill/>
        </p:spPr>
        <p:txBody>
          <a:bodyPr wrap="none" rIns="0">
            <a:spAutoFit/>
          </a:bodyPr>
          <a:lstStyle/>
          <a:p>
            <a:pPr algn="r">
              <a:defRPr sz="1000" b="1">
                <a:solidFill>
                  <a:srgbClr val="34D399"/>
                </a:solidFill>
                <a:latin typeface="Segoe UI"/>
              </a:defRPr>
            </a:pPr>
            <a:r>
              <a:t>FranchiseIQ | Hack Titans (Host: Charan)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120640" cy="429768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The Franchise Dilemma &amp; Our Solution</a:t>
            </a:r>
          </a:p>
          <a:p>
            <a:pPr>
              <a:spcBef>
                <a:spcPts val="800"/>
              </a:spcBef>
              <a:spcAft>
                <a:spcPts val="1400"/>
              </a:spcAft>
              <a:defRPr sz="1300">
                <a:solidFill>
                  <a:srgbClr val="34D399"/>
                </a:solidFill>
              </a:defRPr>
            </a:pPr>
            <a:r>
              <a:t>A platform where unit economics become the currency of trust.</a:t>
            </a:r>
          </a:p>
          <a:p>
            <a:pPr>
              <a:spcBef>
                <a:spcPts val="1000"/>
              </a:spcBef>
            </a:pPr>
            <a:r>
              <a:rPr b="1">
                <a:solidFill>
                  <a:srgbClr val="10B981"/>
                </a:solidFill>
              </a:rPr>
              <a:t>✔  </a:t>
            </a:r>
            <a:r>
              <a:rPr b="1" sz="1250">
                <a:solidFill>
                  <a:srgbClr val="FFFFFF"/>
                </a:solidFill>
              </a:rPr>
              <a:t>Verified Benchmarks Across 60+ Brands:</a:t>
            </a:r>
            <a:r>
              <a:rPr sz="1200">
                <a:solidFill>
                  <a:srgbClr val="94A3B8"/>
                </a:solidFill>
              </a:rPr>
              <a:t> Prospective franchisees query audited unit economics, capex, opex, and true breakeven metrics.</a:t>
            </a:r>
          </a:p>
          <a:p>
            <a:pPr>
              <a:spcBef>
                <a:spcPts val="1000"/>
              </a:spcBef>
            </a:pPr>
            <a:r>
              <a:rPr b="1">
                <a:solidFill>
                  <a:srgbClr val="10B981"/>
                </a:solidFill>
              </a:rPr>
              <a:t>✔  </a:t>
            </a:r>
            <a:r>
              <a:rPr b="1" sz="1250">
                <a:solidFill>
                  <a:srgbClr val="FFFFFF"/>
                </a:solidFill>
              </a:rPr>
              <a:t>Transparent Franchisor Profiles:</a:t>
            </a:r>
            <a:r>
              <a:rPr sz="1200">
                <a:solidFill>
                  <a:srgbClr val="94A3B8"/>
                </a:solidFill>
              </a:rPr>
              <a:t> Franchisors list verifiable financials, territory availability, and upfront royalty structures.</a:t>
            </a:r>
          </a:p>
          <a:p>
            <a:pPr>
              <a:spcBef>
                <a:spcPts val="1000"/>
              </a:spcBef>
            </a:pPr>
            <a:r>
              <a:rPr b="1">
                <a:solidFill>
                  <a:srgbClr val="10B981"/>
                </a:solidFill>
              </a:rPr>
              <a:t>✔  </a:t>
            </a:r>
            <a:r>
              <a:rPr b="1" sz="1250">
                <a:solidFill>
                  <a:srgbClr val="FFFFFF"/>
                </a:solidFill>
              </a:rPr>
              <a:t>1 Audit Run = Instant Ground Reality:</a:t>
            </a:r>
            <a:r>
              <a:rPr sz="1200">
                <a:solidFill>
                  <a:srgbClr val="94A3B8"/>
                </a:solidFill>
              </a:rPr>
              <a:t> Algorithmic claim gap engine flags inflated margins and disguised working capital requirements.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91640"/>
            <a:ext cx="5303520" cy="429768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Platform Operational Framework</a:t>
            </a:r>
          </a:p>
          <a:p>
            <a:pPr>
              <a:spcBef>
                <a:spcPts val="1200"/>
              </a:spcBef>
            </a:pPr>
            <a:r>
              <a:rPr b="1">
                <a:solidFill>
                  <a:srgbClr val="06B6D4"/>
                </a:solidFill>
              </a:rPr>
              <a:t>•  </a:t>
            </a:r>
            <a:r>
              <a:rPr b="1" sz="1250">
                <a:solidFill>
                  <a:srgbClr val="FFFFFF"/>
                </a:solidFill>
              </a:rPr>
              <a:t>Pre-Signing Agreement Validation:</a:t>
            </a:r>
            <a:r>
              <a:rPr sz="1200">
                <a:solidFill>
                  <a:srgbClr val="94A3B8"/>
                </a:solidFill>
              </a:rPr>
              <a:t> Validate revenue and ROI claims BEFORE committing life savings or signing binding franchise agreements.</a:t>
            </a:r>
          </a:p>
          <a:p>
            <a:pPr>
              <a:spcBef>
                <a:spcPts val="1200"/>
              </a:spcBef>
            </a:pPr>
            <a:r>
              <a:rPr b="1">
                <a:solidFill>
                  <a:srgbClr val="06B6D4"/>
                </a:solidFill>
              </a:rPr>
              <a:t>•  </a:t>
            </a:r>
            <a:r>
              <a:rPr b="1" sz="1250">
                <a:solidFill>
                  <a:srgbClr val="FFFFFF"/>
                </a:solidFill>
              </a:rPr>
              <a:t>Hidden Cost Elimination:</a:t>
            </a:r>
            <a:r>
              <a:rPr sz="1200">
                <a:solidFill>
                  <a:srgbClr val="94A3B8"/>
                </a:solidFill>
              </a:rPr>
              <a:t> Expose obscured costs: mandatory initial inventory, POS subscriptions, fit-out overages, and marketing levies.</a:t>
            </a:r>
          </a:p>
          <a:p>
            <a:pPr>
              <a:spcBef>
                <a:spcPts val="1200"/>
              </a:spcBef>
            </a:pPr>
            <a:r>
              <a:rPr b="1">
                <a:solidFill>
                  <a:srgbClr val="06B6D4"/>
                </a:solidFill>
              </a:rPr>
              <a:t>•  </a:t>
            </a:r>
            <a:r>
              <a:rPr b="1" sz="1250">
                <a:solidFill>
                  <a:srgbClr val="FFFFFF"/>
                </a:solidFill>
              </a:rPr>
              <a:t>Zero-Conflict Diligence:</a:t>
            </a:r>
            <a:r>
              <a:rPr sz="1200">
                <a:solidFill>
                  <a:srgbClr val="94A3B8"/>
                </a:solidFill>
              </a:rPr>
              <a:t> Independent intelligence eliminates misleading broker commissions and protects MSME investors.</a:t>
            </a:r>
          </a:p>
          <a:p>
            <a:pPr>
              <a:spcBef>
                <a:spcPts val="1200"/>
              </a:spcBef>
            </a:pPr>
            <a:r>
              <a:rPr b="1">
                <a:solidFill>
                  <a:srgbClr val="06B6D4"/>
                </a:solidFill>
              </a:rPr>
              <a:t>•  </a:t>
            </a:r>
            <a:r>
              <a:rPr b="1" sz="1250">
                <a:solidFill>
                  <a:srgbClr val="FFFFFF"/>
                </a:solidFill>
              </a:rPr>
              <a:t>Live Interactive Web &amp; Mobile App:</a:t>
            </a:r>
            <a:r>
              <a:rPr sz="1200">
                <a:solidFill>
                  <a:srgbClr val="94A3B8"/>
                </a:solidFill>
              </a:rPr>
              <a:t> Full PWA experience with offline caching, interactive payback sliders, and real-time alerts.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121929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❖  FRANCHISEIQ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How It Works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End-to-End Investment Verification &amp; Unit Economics Intelligence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5486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3 @ SIH Idea submission -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309360"/>
            <a:ext cx="3657600" cy="320040"/>
          </a:xfrm>
          <a:prstGeom prst="rect">
            <a:avLst/>
          </a:prstGeom>
          <a:noFill/>
        </p:spPr>
        <p:txBody>
          <a:bodyPr wrap="none" rIns="0">
            <a:spAutoFit/>
          </a:bodyPr>
          <a:lstStyle/>
          <a:p>
            <a:pPr algn="r">
              <a:defRPr sz="1000" b="1">
                <a:solidFill>
                  <a:srgbClr val="34D399"/>
                </a:solidFill>
                <a:latin typeface="Segoe UI"/>
              </a:defRPr>
            </a:pPr>
            <a:r>
              <a:t>FranchiseIQ | Hack Titans (Host: Charan)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011680" cy="411480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0"/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01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200" b="1">
                <a:solidFill>
                  <a:srgbClr val="FFFFFF"/>
                </a:solidFill>
              </a:defRPr>
            </a:pPr>
            <a:r>
              <a:t>STEP 1: INVESTOR PROFILE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Capital: ₹25L - ₹50L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Target City: Pune / Tier-2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Preferred Sector: QSR / Retail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Risk Appetite: Balanced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2" y="1828800"/>
            <a:ext cx="2011680" cy="411480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0"/>
          <a:lstStyle/>
          <a:p>
            <a:pPr algn="ctr">
              <a:defRPr sz="2800" b="1">
                <a:solidFill>
                  <a:srgbClr val="06B6D4"/>
                </a:solidFill>
              </a:defRPr>
            </a:pPr>
            <a:r>
              <a:t>02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200" b="1">
                <a:solidFill>
                  <a:srgbClr val="FFFFFF"/>
                </a:solidFill>
              </a:defRPr>
            </a:pPr>
            <a:r>
              <a:t>STEP 2: CLAIM GAP ENGINE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Cross-checks franchisor pitch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Audits Item 19 &amp; P&amp;L statements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Flags hidden fit-out costs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Indexes city rental reality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4064" y="1828800"/>
            <a:ext cx="2011680" cy="411480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0"/>
          <a:lstStyle/>
          <a:p>
            <a:pPr algn="ctr">
              <a:defRPr sz="2800" b="1">
                <a:solidFill>
                  <a:srgbClr val="34D399"/>
                </a:solidFill>
              </a:defRPr>
            </a:pPr>
            <a:r>
              <a:t>03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200" b="1">
                <a:solidFill>
                  <a:srgbClr val="FFFFFF"/>
                </a:solidFill>
              </a:defRPr>
            </a:pPr>
            <a:r>
              <a:t>STEP 3: AI UNIT ECONOMICS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60+ Franchise Database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Calculates real gross margin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Sensitivity under footfall drops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Simulates true payback velocity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0336" y="1828800"/>
            <a:ext cx="2011680" cy="411480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0"/>
          <a:lstStyle/>
          <a:p>
            <a:pPr algn="ctr">
              <a:defRPr sz="2800" b="1">
                <a:solidFill>
                  <a:srgbClr val="F59E0B"/>
                </a:solidFill>
              </a:defRPr>
            </a:pPr>
            <a:r>
              <a:t>04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200" b="1">
                <a:solidFill>
                  <a:srgbClr val="FFFFFF"/>
                </a:solidFill>
              </a:defRPr>
            </a:pPr>
            <a:r>
              <a:t>STEP 4: ACTION REPORT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Risk Score: Low-Medium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True Payback: 18.4 Months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Projected Net Margin: 19.2%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Contract Clause Traps: 2 Flagged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36608" y="1828800"/>
            <a:ext cx="2011680" cy="411480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0"/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05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200" b="1">
                <a:solidFill>
                  <a:srgbClr val="FFFFFF"/>
                </a:solidFill>
              </a:defRPr>
            </a:pPr>
            <a:r>
              <a:t>STEP 5: CAPITAL DEPLOYMENT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Validated Franchise Onboarding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Tier-1 Bank Financing Ready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Ongoing Unit Milestone Audits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High-Confidence Expansion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121929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❖  FRANCHISEIQ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Innovation &amp; Uniqueness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Groundbreaking AI intelligence replacing hearsay with institutional-grade financial modeling.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5486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4 @ SIH Idea submission -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309360"/>
            <a:ext cx="3657600" cy="320040"/>
          </a:xfrm>
          <a:prstGeom prst="rect">
            <a:avLst/>
          </a:prstGeom>
          <a:noFill/>
        </p:spPr>
        <p:txBody>
          <a:bodyPr wrap="none" rIns="0">
            <a:spAutoFit/>
          </a:bodyPr>
          <a:lstStyle/>
          <a:p>
            <a:pPr algn="r">
              <a:defRPr sz="1000" b="1">
                <a:solidFill>
                  <a:srgbClr val="34D399"/>
                </a:solidFill>
                <a:latin typeface="Segoe UI"/>
              </a:defRPr>
            </a:pPr>
            <a:r>
              <a:t>FranchiseIQ | Hack Titans (Host: Charan)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29000" cy="329184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ALGORITHMIC DISCREPANCY DETECTION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AI Unit Economics &amp; Claim Gap Auditing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Proprietary natural language and financial models cross-reference franchisor marketing brochures against audited GST filings, vendor invoices, and franchisee tax disclosures to expose hidden discrepancies.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429000" cy="329184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MONTE CARLO RISK STRESS-TESTING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Multi-Factor Sensitivity &amp; Break-Even Simulation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Evaluates break-even duration across 10,000 simulated scenarios incorporating local footfall volatility, commercial rent inflations, staff attrition, and raw material wholesale price spikes.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429000" cy="329184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000" b="1">
                <a:solidFill>
                  <a:srgbClr val="34D399"/>
                </a:solidFill>
              </a:defRPr>
            </a:pPr>
            <a:r>
              <a:t>VERIFIED FRANCHISEE PEER NETWORK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Double-Blind Trust &amp; Reputation Network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Decentralized peer feedback from verified operational unit owners, tracking unannounced store closures, franchisor supply chain responsiveness, and ongoing royalty dispute histories.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66360"/>
            <a:ext cx="10728655" cy="86868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ctr">
              <a:defRPr sz="1350" b="1">
                <a:solidFill>
                  <a:srgbClr val="34D399"/>
                </a:solidFill>
                <a:latin typeface="Segoe UI"/>
              </a:defRPr>
            </a:pPr>
            <a:r>
              <a:t>CORE INNOVATION:  “AI connects prospective franchisees with verified unit economics, safeguarding capital before contracts are signed.”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121929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❖  TECHNICAL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Technologies to be Used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Robust, highly scalable full-stack architecture built for high-throughput financial analytics.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5486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5 @ SIH Idea submission -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309360"/>
            <a:ext cx="3657600" cy="320040"/>
          </a:xfrm>
          <a:prstGeom prst="rect">
            <a:avLst/>
          </a:prstGeom>
          <a:noFill/>
        </p:spPr>
        <p:txBody>
          <a:bodyPr wrap="none" rIns="0">
            <a:spAutoFit/>
          </a:bodyPr>
          <a:lstStyle/>
          <a:p>
            <a:pPr algn="r">
              <a:defRPr sz="1000" b="1">
                <a:solidFill>
                  <a:srgbClr val="34D399"/>
                </a:solidFill>
                <a:latin typeface="Segoe UI"/>
              </a:defRPr>
            </a:pPr>
            <a:r>
              <a:t>FranchiseIQ | Hack Titans (Host: Charan)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434340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spcBef>
                <a:spcPts val="0"/>
              </a:spcBef>
            </a:pPr>
            <a:r>
              <a:rPr sz="1300" b="1">
                <a:solidFill>
                  <a:srgbClr val="10B981"/>
                </a:solidFill>
              </a:rPr>
              <a:t>•  </a:t>
            </a:r>
            <a:r>
              <a:rPr sz="1300" b="1">
                <a:solidFill>
                  <a:srgbClr val="FFFFFF"/>
                </a:solidFill>
              </a:rPr>
              <a:t>Frontend Layer: </a:t>
            </a:r>
            <a:r>
              <a:rPr sz="1300" b="1">
                <a:solidFill>
                  <a:srgbClr val="06B6D4"/>
                </a:solidFill>
              </a:rPr>
              <a:t>React 19, TypeScript, Vite, Tailwind CSS, Lucide Icons, Chart.js — </a:t>
            </a:r>
            <a:r>
              <a:rPr sz="1200">
                <a:solidFill>
                  <a:srgbClr val="94A3B8"/>
                </a:solidFill>
              </a:rPr>
              <a:t>Responsive web app + Mobile PWA with offline-first service worker capability.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10B981"/>
                </a:solidFill>
              </a:rPr>
              <a:t>•  </a:t>
            </a:r>
            <a:r>
              <a:rPr sz="1300" b="1">
                <a:solidFill>
                  <a:srgbClr val="FFFFFF"/>
                </a:solidFill>
              </a:rPr>
              <a:t>Backend API Layer: </a:t>
            </a:r>
            <a:r>
              <a:rPr sz="1300" b="1">
                <a:solidFill>
                  <a:srgbClr val="06B6D4"/>
                </a:solidFill>
              </a:rPr>
              <a:t>Python 3.13 + FastAPI, Uvicorn, Asynchronous Coroutines — </a:t>
            </a:r>
            <a:r>
              <a:rPr sz="1200">
                <a:solidFill>
                  <a:srgbClr val="94A3B8"/>
                </a:solidFill>
              </a:rPr>
              <a:t>Sub-50ms REST API response times, WebSocket real-time financial simulation streaming.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10B981"/>
                </a:solidFill>
              </a:rPr>
              <a:t>•  </a:t>
            </a:r>
            <a:r>
              <a:rPr sz="1300" b="1">
                <a:solidFill>
                  <a:srgbClr val="FFFFFF"/>
                </a:solidFill>
              </a:rPr>
              <a:t>Database &amp; Storage: </a:t>
            </a:r>
            <a:r>
              <a:rPr sz="1300" b="1">
                <a:solidFill>
                  <a:srgbClr val="06B6D4"/>
                </a:solidFill>
              </a:rPr>
              <a:t>PostgreSQL / Supabase, Redis Cache — </a:t>
            </a:r>
            <a:r>
              <a:rPr sz="1200">
                <a:solidFill>
                  <a:srgbClr val="94A3B8"/>
                </a:solidFill>
              </a:rPr>
              <a:t>Structured relational schema for 60+ franchise profiles, unit economics, and user portfolios.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10B981"/>
                </a:solidFill>
              </a:rPr>
              <a:t>•  </a:t>
            </a:r>
            <a:r>
              <a:rPr sz="1300" b="1">
                <a:solidFill>
                  <a:srgbClr val="FFFFFF"/>
                </a:solidFill>
              </a:rPr>
              <a:t>AI &amp; NLP Engine: </a:t>
            </a:r>
            <a:r>
              <a:rPr sz="1300" b="1">
                <a:solidFill>
                  <a:srgbClr val="06B6D4"/>
                </a:solidFill>
              </a:rPr>
              <a:t>LLM Document Intelligence &amp; Semantic Embedding Pipeline — </a:t>
            </a:r>
            <a:r>
              <a:rPr sz="1200">
                <a:solidFill>
                  <a:srgbClr val="94A3B8"/>
                </a:solidFill>
              </a:rPr>
              <a:t>Item 19 FDD automated document extraction, contract clause parsing, and claim gap alerts.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10B981"/>
                </a:solidFill>
              </a:rPr>
              <a:t>•  </a:t>
            </a:r>
            <a:r>
              <a:rPr sz="1300" b="1">
                <a:solidFill>
                  <a:srgbClr val="FFFFFF"/>
                </a:solidFill>
              </a:rPr>
              <a:t>Quantitative Algorithms: </a:t>
            </a:r>
            <a:r>
              <a:rPr sz="1300" b="1">
                <a:solidFill>
                  <a:srgbClr val="06B6D4"/>
                </a:solidFill>
              </a:rPr>
              <a:t>Monte Carlo Simulations &amp; Sensitivity Analysis — </a:t>
            </a:r>
            <a:r>
              <a:rPr sz="1200">
                <a:solidFill>
                  <a:srgbClr val="94A3B8"/>
                </a:solidFill>
              </a:rPr>
              <a:t>Calculates multi-scenario break-even velocities, payback curves, and risk probability distributions.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10B981"/>
                </a:solidFill>
              </a:rPr>
              <a:t>•  </a:t>
            </a:r>
            <a:r>
              <a:rPr sz="1300" b="1">
                <a:solidFill>
                  <a:srgbClr val="FFFFFF"/>
                </a:solidFill>
              </a:rPr>
              <a:t>Security &amp; RBAC: </a:t>
            </a:r>
            <a:r>
              <a:rPr sz="1300" b="1">
                <a:solidFill>
                  <a:srgbClr val="06B6D4"/>
                </a:solidFill>
              </a:rPr>
              <a:t>Role-Based Access Control (Admin Host: Charan vs Investor) — </a:t>
            </a:r>
            <a:r>
              <a:rPr sz="1200">
                <a:solidFill>
                  <a:srgbClr val="94A3B8"/>
                </a:solidFill>
              </a:rPr>
              <a:t>Protected endpoints, credential encryption, host-exclusive system administration privileges.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10B981"/>
                </a:solidFill>
              </a:rPr>
              <a:t>•  </a:t>
            </a:r>
            <a:r>
              <a:rPr sz="1300" b="1">
                <a:solidFill>
                  <a:srgbClr val="FFFFFF"/>
                </a:solidFill>
              </a:rPr>
              <a:t>Location Intelligence: </a:t>
            </a:r>
            <a:r>
              <a:rPr sz="1300" b="1">
                <a:solidFill>
                  <a:srgbClr val="06B6D4"/>
                </a:solidFill>
              </a:rPr>
              <a:t>Tier-1, Tier-2, Tier-3 Micro-Market Indexing — </a:t>
            </a:r>
            <a:r>
              <a:rPr sz="1200">
                <a:solidFill>
                  <a:srgbClr val="94A3B8"/>
                </a:solidFill>
              </a:rPr>
              <a:t>Real-time adjustments for local commercial real estate rates, labor costs, and footfall demographics.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121929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❖  TECHNICAL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Methodology / Process Flow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Automated multi-stage data verification and user decision lifecycle.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5486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6 @ SIH Idea submission -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309360"/>
            <a:ext cx="3657600" cy="320040"/>
          </a:xfrm>
          <a:prstGeom prst="rect">
            <a:avLst/>
          </a:prstGeom>
          <a:noFill/>
        </p:spPr>
        <p:txBody>
          <a:bodyPr wrap="none" rIns="0">
            <a:spAutoFit/>
          </a:bodyPr>
          <a:lstStyle/>
          <a:p>
            <a:pPr algn="r">
              <a:defRPr sz="1000" b="1">
                <a:solidFill>
                  <a:srgbClr val="34D399"/>
                </a:solidFill>
                <a:latin typeface="Segoe UI"/>
              </a:defRPr>
            </a:pPr>
            <a:r>
              <a:t>FranchiseIQ | Hack Titans (Host: Charan)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691640"/>
            <a:ext cx="9966960" cy="585216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300" b="1">
                <a:solidFill>
                  <a:srgbClr val="10B981"/>
                </a:solidFill>
              </a:rPr>
              <a:t>1. USER ONBOARDING:  </a:t>
            </a:r>
            <a:r>
              <a:rPr sz="1250">
                <a:solidFill>
                  <a:srgbClr val="FFFFFF"/>
                </a:solidFill>
              </a:rPr>
              <a:t>Investor specifies budget, target region &amp; sector interest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386584"/>
            <a:ext cx="9966960" cy="585216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300" b="1">
                <a:solidFill>
                  <a:srgbClr val="06B6D4"/>
                </a:solidFill>
              </a:rPr>
              <a:t>2. DATA INGESTION:  </a:t>
            </a:r>
            <a:r>
              <a:rPr sz="1250">
                <a:solidFill>
                  <a:srgbClr val="FFFFFF"/>
                </a:solidFill>
              </a:rPr>
              <a:t>Ingests franchisor claims, FDD disclosures &amp; fee schedules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3081528"/>
            <a:ext cx="9966960" cy="585216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300" b="1">
                <a:solidFill>
                  <a:srgbClr val="F59E0B"/>
                </a:solidFill>
              </a:rPr>
              <a:t>3. AI CLAIM GAP AUDIT:  </a:t>
            </a:r>
            <a:r>
              <a:rPr sz="1250">
                <a:solidFill>
                  <a:srgbClr val="FFFFFF"/>
                </a:solidFill>
              </a:rPr>
              <a:t>Cross-checks claims vs actual franchisee tax &amp; margin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776472"/>
            <a:ext cx="9966960" cy="585216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300" b="1">
                <a:solidFill>
                  <a:srgbClr val="34D399"/>
                </a:solidFill>
              </a:rPr>
              <a:t>4. MATCH DECISION:  </a:t>
            </a:r>
            <a:r>
              <a:rPr sz="1250">
                <a:solidFill>
                  <a:srgbClr val="FFFFFF"/>
                </a:solidFill>
              </a:rPr>
              <a:t>Direct benchmark match or alternative sector recommendations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471416"/>
            <a:ext cx="9966960" cy="585216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300" b="1">
                <a:solidFill>
                  <a:srgbClr val="06B6D4"/>
                </a:solidFill>
              </a:rPr>
              <a:t>5. SIMULATION ENGINE:  </a:t>
            </a:r>
            <a:r>
              <a:rPr sz="1250">
                <a:solidFill>
                  <a:srgbClr val="FFFFFF"/>
                </a:solidFill>
              </a:rPr>
              <a:t>Computes break-even duration &amp; 3-year cash flow projections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5166360"/>
            <a:ext cx="9966960" cy="585216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300" b="1">
                <a:solidFill>
                  <a:srgbClr val="10B981"/>
                </a:solidFill>
              </a:rPr>
              <a:t>6. DILIGENCE DOSSIER:  </a:t>
            </a:r>
            <a:r>
              <a:rPr sz="1250">
                <a:solidFill>
                  <a:srgbClr val="FFFFFF"/>
                </a:solidFill>
              </a:rPr>
              <a:t>Generates comprehensive audit report &amp; flags contract clauses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121929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❖  FEASIBILITY AND VIABILITY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Feasibility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Operational, technical, and economic viability of the FranchiseIQ platform.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5486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7 @ SIH Idea submission -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309360"/>
            <a:ext cx="3657600" cy="320040"/>
          </a:xfrm>
          <a:prstGeom prst="rect">
            <a:avLst/>
          </a:prstGeom>
          <a:noFill/>
        </p:spPr>
        <p:txBody>
          <a:bodyPr wrap="none" rIns="0">
            <a:spAutoFit/>
          </a:bodyPr>
          <a:lstStyle/>
          <a:p>
            <a:pPr algn="r">
              <a:defRPr sz="1000" b="1">
                <a:solidFill>
                  <a:srgbClr val="34D399"/>
                </a:solidFill>
                <a:latin typeface="Segoe UI"/>
              </a:defRPr>
            </a:pPr>
            <a:r>
              <a:t>FranchiseIQ | Hack Titans (Host: Charan)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434340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spcBef>
                <a:spcPts val="0"/>
              </a:spcBef>
            </a:pPr>
            <a:r>
              <a:rPr sz="1300" b="1">
                <a:solidFill>
                  <a:srgbClr val="10B981"/>
                </a:solidFill>
              </a:rPr>
              <a:t>✔  </a:t>
            </a:r>
            <a:r>
              <a:rPr sz="1300" b="1">
                <a:solidFill>
                  <a:srgbClr val="FFFFFF"/>
                </a:solidFill>
              </a:rPr>
              <a:t>Software-Only Platform — Zero Hardware Overhead: </a:t>
            </a:r>
            <a:r>
              <a:rPr sz="1200">
                <a:solidFill>
                  <a:srgbClr val="94A3B8"/>
                </a:solidFill>
              </a:rPr>
              <a:t>Fully cloud-native architecture running on modern web standards with no proprietary on-premise hardware required.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10B981"/>
                </a:solidFill>
              </a:rPr>
              <a:t>✔  </a:t>
            </a:r>
            <a:r>
              <a:rPr sz="1300" b="1">
                <a:solidFill>
                  <a:srgbClr val="FFFFFF"/>
                </a:solidFill>
              </a:rPr>
              <a:t>Immediate Go-To-Market with 60+ Pre-Audited Brands: </a:t>
            </a:r>
            <a:r>
              <a:rPr sz="1200">
                <a:solidFill>
                  <a:srgbClr val="94A3B8"/>
                </a:solidFill>
              </a:rPr>
              <a:t>Launches with an active repository of verified franchises spanning 12 sectors (QSR, Retail, Healthcare, Education, Fitness).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10B981"/>
                </a:solidFill>
              </a:rPr>
              <a:t>✔  </a:t>
            </a:r>
            <a:r>
              <a:rPr sz="1300" b="1">
                <a:solidFill>
                  <a:srgbClr val="FFFFFF"/>
                </a:solidFill>
              </a:rPr>
              <a:t>Automated AI Ingestion &amp; Scraping Pipelines: </a:t>
            </a:r>
            <a:r>
              <a:rPr sz="1200">
                <a:solidFill>
                  <a:srgbClr val="94A3B8"/>
                </a:solidFill>
              </a:rPr>
              <a:t>State-of-the-art LLM pipelines parse unstructured franchise disclosure PDFs, Ministry of Corporate Affairs filings, and GST records.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10B981"/>
                </a:solidFill>
              </a:rPr>
              <a:t>✔  </a:t>
            </a:r>
            <a:r>
              <a:rPr sz="1300" b="1">
                <a:solidFill>
                  <a:srgbClr val="FFFFFF"/>
                </a:solidFill>
              </a:rPr>
              <a:t>Production-Ready Interactive Prototype: </a:t>
            </a:r>
            <a:r>
              <a:rPr sz="1200">
                <a:solidFill>
                  <a:srgbClr val="94A3B8"/>
                </a:solidFill>
              </a:rPr>
              <a:t>Interactive comparison engine, live payback duration calculators, sensitivity sliders, and mobile PWA already built.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10B981"/>
                </a:solidFill>
              </a:rPr>
              <a:t>✔  </a:t>
            </a:r>
            <a:r>
              <a:rPr sz="1300" b="1">
                <a:solidFill>
                  <a:srgbClr val="FFFFFF"/>
                </a:solidFill>
              </a:rPr>
              <a:t>Digital Verification &amp; Audit Trail Management: </a:t>
            </a:r>
            <a:r>
              <a:rPr sz="1200">
                <a:solidFill>
                  <a:srgbClr val="94A3B8"/>
                </a:solidFill>
              </a:rPr>
              <a:t>Automated audit records securely log all verified data points, providing immutable history for lenders and investors.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10B981"/>
                </a:solidFill>
              </a:rPr>
              <a:t>✔  </a:t>
            </a:r>
            <a:r>
              <a:rPr sz="1300" b="1">
                <a:solidFill>
                  <a:srgbClr val="FFFFFF"/>
                </a:solidFill>
              </a:rPr>
              <a:t>Modular Scalability Across Global Geographies: </a:t>
            </a:r>
            <a:r>
              <a:rPr sz="1200">
                <a:solidFill>
                  <a:srgbClr val="94A3B8"/>
                </a:solidFill>
              </a:rPr>
              <a:t>Extensible architecture readily supports expanding from India to Southeast Asia and Middle Eastern franchise markets.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121929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❖  FEASIBILITY AND VIABILITY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Challenges &amp; Risks Matrix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Critical industry vulnerabilities and their impact on prospective franchisees.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5486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8 @ SIH Idea submission -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309360"/>
            <a:ext cx="3657600" cy="320040"/>
          </a:xfrm>
          <a:prstGeom prst="rect">
            <a:avLst/>
          </a:prstGeom>
          <a:noFill/>
        </p:spPr>
        <p:txBody>
          <a:bodyPr wrap="none" rIns="0">
            <a:spAutoFit/>
          </a:bodyPr>
          <a:lstStyle/>
          <a:p>
            <a:pPr algn="r">
              <a:defRPr sz="1000" b="1">
                <a:solidFill>
                  <a:srgbClr val="34D399"/>
                </a:solidFill>
                <a:latin typeface="Segoe UI"/>
              </a:defRPr>
            </a:pPr>
            <a:r>
              <a:t>FranchiseIQ | Hack Titans (Host: Charan)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91640"/>
          <a:ext cx="1072774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3870"/>
                <a:gridCol w="5363870"/>
              </a:tblGrid>
              <a:tr h="620485">
                <a:tc>
                  <a:txBody>
                    <a:bodyPr wrap="square" lIns="182880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CHALLENGE (Industry Bottleneck)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 wrap="square" lIns="182880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RISK (Consequence to Franchisee)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</a:tr>
              <a:tr h="620485">
                <a:tc>
                  <a:txBody>
                    <a:bodyPr wrap="square" lIns="182880"/>
                    <a:lstStyle/>
                    <a:p>
                      <a:pPr>
                        <a:defRPr sz="1150">
                          <a:solidFill>
                            <a:srgbClr val="FFFFFF"/>
                          </a:solidFill>
                        </a:defRPr>
                      </a:pPr>
                      <a:r>
                        <a:t>Inflated Franchisor Revenue Claims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 wrap="square" lIns="182880"/>
                    <a:lstStyle/>
                    <a:p>
                      <a:pPr>
                        <a:defRPr sz="1150">
                          <a:solidFill>
                            <a:srgbClr val="F59E0B"/>
                          </a:solidFill>
                        </a:defRPr>
                      </a:pPr>
                      <a:r>
                        <a:t>Severe capital destruction &amp; bankruptcy for unsuspecting first-time franchisees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</a:tr>
              <a:tr h="620485">
                <a:tc>
                  <a:txBody>
                    <a:bodyPr wrap="square" lIns="182880"/>
                    <a:lstStyle/>
                    <a:p>
                      <a:pPr>
                        <a:defRPr sz="1150">
                          <a:solidFill>
                            <a:srgbClr val="FFFFFF"/>
                          </a:solidFill>
                        </a:defRPr>
                      </a:pPr>
                      <a:r>
                        <a:t>Hidden Operating &amp; Mandatory Supply Chain Surcharges</a:t>
                      </a:r>
                    </a:p>
                  </a:txBody>
                  <a:tcPr>
                    <a:solidFill>
                      <a:srgbClr val="182238"/>
                    </a:solidFill>
                  </a:tcPr>
                </a:tc>
                <a:tc>
                  <a:txBody>
                    <a:bodyPr wrap="square" lIns="182880"/>
                    <a:lstStyle/>
                    <a:p>
                      <a:pPr>
                        <a:defRPr sz="1150">
                          <a:solidFill>
                            <a:srgbClr val="F59E0B"/>
                          </a:solidFill>
                        </a:defRPr>
                      </a:pPr>
                      <a:r>
                        <a:t>Immediate cash-flow collapse and compressed operating margins in Year 1</a:t>
                      </a:r>
                    </a:p>
                  </a:txBody>
                  <a:tcPr>
                    <a:solidFill>
                      <a:srgbClr val="182238"/>
                    </a:solidFill>
                  </a:tcPr>
                </a:tc>
              </a:tr>
              <a:tr h="620485">
                <a:tc>
                  <a:txBody>
                    <a:bodyPr wrap="square" lIns="182880"/>
                    <a:lstStyle/>
                    <a:p>
                      <a:pPr>
                        <a:defRPr sz="1150">
                          <a:solidFill>
                            <a:srgbClr val="FFFFFF"/>
                          </a:solidFill>
                        </a:defRPr>
                      </a:pPr>
                      <a:r>
                        <a:t>Location &amp; Micro-Market Footfall Mismatch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 wrap="square" lIns="182880"/>
                    <a:lstStyle/>
                    <a:p>
                      <a:pPr>
                        <a:defRPr sz="1150">
                          <a:solidFill>
                            <a:srgbClr val="94A3B8"/>
                          </a:solidFill>
                        </a:defRPr>
                      </a:pPr>
                      <a:r>
                        <a:t>Unviable unit economics due to regional commercial rental &amp; wage variations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</a:tr>
              <a:tr h="620485">
                <a:tc>
                  <a:txBody>
                    <a:bodyPr wrap="square" lIns="182880"/>
                    <a:lstStyle/>
                    <a:p>
                      <a:pPr>
                        <a:defRPr sz="1150">
                          <a:solidFill>
                            <a:srgbClr val="FFFFFF"/>
                          </a:solidFill>
                        </a:defRPr>
                      </a:pPr>
                      <a:r>
                        <a:t>Fragmented Industry Data &amp; Information Asymmetry</a:t>
                      </a:r>
                    </a:p>
                  </a:txBody>
                  <a:tcPr>
                    <a:solidFill>
                      <a:srgbClr val="182238"/>
                    </a:solidFill>
                  </a:tcPr>
                </a:tc>
                <a:tc>
                  <a:txBody>
                    <a:bodyPr wrap="square" lIns="182880"/>
                    <a:lstStyle/>
                    <a:p>
                      <a:pPr>
                        <a:defRPr sz="1150">
                          <a:solidFill>
                            <a:srgbClr val="94A3B8"/>
                          </a:solidFill>
                        </a:defRPr>
                      </a:pPr>
                      <a:r>
                        <a:t>Franchisees enter legally binding agreements with zero independent verification</a:t>
                      </a:r>
                    </a:p>
                  </a:txBody>
                  <a:tcPr>
                    <a:solidFill>
                      <a:srgbClr val="182238"/>
                    </a:solidFill>
                  </a:tcPr>
                </a:tc>
              </a:tr>
              <a:tr h="620485">
                <a:tc>
                  <a:txBody>
                    <a:bodyPr wrap="square" lIns="182880"/>
                    <a:lstStyle/>
                    <a:p>
                      <a:pPr>
                        <a:defRPr sz="1150">
                          <a:solidFill>
                            <a:srgbClr val="FFFFFF"/>
                          </a:solidFill>
                        </a:defRPr>
                      </a:pPr>
                      <a:r>
                        <a:t>Franchisee Churn &amp; Store Closure Concealment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 wrap="square" lIns="182880"/>
                    <a:lstStyle/>
                    <a:p>
                      <a:pPr>
                        <a:defRPr sz="1150">
                          <a:solidFill>
                            <a:srgbClr val="94A3B8"/>
                          </a:solidFill>
                        </a:defRPr>
                      </a:pPr>
                      <a:r>
                        <a:t>Deceptive brand survivorship bias masking true systemic unit failure rates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</a:tr>
              <a:tr h="620490">
                <a:tc>
                  <a:txBody>
                    <a:bodyPr wrap="square" lIns="182880"/>
                    <a:lstStyle/>
                    <a:p>
                      <a:pPr>
                        <a:defRPr sz="1150">
                          <a:solidFill>
                            <a:srgbClr val="FFFFFF"/>
                          </a:solidFill>
                        </a:defRPr>
                      </a:pPr>
                      <a:r>
                        <a:t>Onerous Legal Agreements &amp; Unrecoverable Fees</a:t>
                      </a:r>
                    </a:p>
                  </a:txBody>
                  <a:tcPr>
                    <a:solidFill>
                      <a:srgbClr val="182238"/>
                    </a:solidFill>
                  </a:tcPr>
                </a:tc>
                <a:tc>
                  <a:txBody>
                    <a:bodyPr wrap="square" lIns="182880"/>
                    <a:lstStyle/>
                    <a:p>
                      <a:pPr>
                        <a:defRPr sz="1150">
                          <a:solidFill>
                            <a:srgbClr val="94A3B8"/>
                          </a:solidFill>
                        </a:defRPr>
                      </a:pPr>
                      <a:r>
                        <a:t>Franchisees locked into predatory non-compete clauses with no exit path</a:t>
                      </a:r>
                    </a:p>
                  </a:txBody>
                  <a:tcPr>
                    <a:solidFill>
                      <a:srgbClr val="1822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121929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❖  FEASIBILITY AND VIABILITY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Strategies to Overcome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Engineering solutions to neutralize risks and guarantee data integrity.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5486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9 @ SIH Idea submission -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309360"/>
            <a:ext cx="3657600" cy="320040"/>
          </a:xfrm>
          <a:prstGeom prst="rect">
            <a:avLst/>
          </a:prstGeom>
          <a:noFill/>
        </p:spPr>
        <p:txBody>
          <a:bodyPr wrap="none" rIns="0">
            <a:spAutoFit/>
          </a:bodyPr>
          <a:lstStyle/>
          <a:p>
            <a:pPr algn="r">
              <a:defRPr sz="1000" b="1">
                <a:solidFill>
                  <a:srgbClr val="34D399"/>
                </a:solidFill>
                <a:latin typeface="Segoe UI"/>
              </a:defRPr>
            </a:pPr>
            <a:r>
              <a:t>FranchiseIQ | Hack Titans (Host: Charan)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434340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spcBef>
                <a:spcPts val="0"/>
              </a:spcBef>
            </a:pPr>
            <a:r>
              <a:rPr sz="1300" b="1">
                <a:solidFill>
                  <a:srgbClr val="06B6D4"/>
                </a:solidFill>
              </a:rPr>
              <a:t>→  </a:t>
            </a:r>
            <a:r>
              <a:rPr sz="1300" b="1">
                <a:solidFill>
                  <a:srgbClr val="FFFFFF"/>
                </a:solidFill>
              </a:rPr>
              <a:t>Claim Gap Audit Engine: </a:t>
            </a:r>
            <a:r>
              <a:rPr sz="1200">
                <a:solidFill>
                  <a:srgbClr val="94A3B8"/>
                </a:solidFill>
              </a:rPr>
              <a:t>Algorithmic cross-referencing of franchisor claims against actual operating P&amp;Ls, tax records, and real unit audits.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06B6D4"/>
                </a:solidFill>
              </a:rPr>
              <a:t>→  </a:t>
            </a:r>
            <a:r>
              <a:rPr sz="1300" b="1">
                <a:solidFill>
                  <a:srgbClr val="FFFFFF"/>
                </a:solidFill>
              </a:rPr>
              <a:t>Mandatory Hidden Cost Disclosures: </a:t>
            </a:r>
            <a:r>
              <a:rPr sz="1200">
                <a:solidFill>
                  <a:srgbClr val="94A3B8"/>
                </a:solidFill>
              </a:rPr>
              <a:t>Automated itemization of initial inventory minimums, POS tech fees, mandatory fit-out contractors, and marketing fund levies.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06B6D4"/>
                </a:solidFill>
              </a:rPr>
              <a:t>→  </a:t>
            </a:r>
            <a:r>
              <a:rPr sz="1300" b="1">
                <a:solidFill>
                  <a:srgbClr val="FFFFFF"/>
                </a:solidFill>
              </a:rPr>
              <a:t>Micro-Market Cost Indexing: </a:t>
            </a:r>
            <a:r>
              <a:rPr sz="1200">
                <a:solidFill>
                  <a:srgbClr val="94A3B8"/>
                </a:solidFill>
              </a:rPr>
              <a:t>Dynamic break-even calculators adjusted for Tier-1, Tier-2, and Tier-3 city rental levels and labor costs.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06B6D4"/>
                </a:solidFill>
              </a:rPr>
              <a:t>→  </a:t>
            </a:r>
            <a:r>
              <a:rPr sz="1300" b="1">
                <a:solidFill>
                  <a:srgbClr val="FFFFFF"/>
                </a:solidFill>
              </a:rPr>
              <a:t>Independent Store Survival Tracking: </a:t>
            </a:r>
            <a:r>
              <a:rPr sz="1200">
                <a:solidFill>
                  <a:srgbClr val="94A3B8"/>
                </a:solidFill>
              </a:rPr>
              <a:t>Ground-level census tracking active vs quietly shuttered outlets to expose real churn rates and eliminate survivorship bias.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06B6D4"/>
                </a:solidFill>
              </a:rPr>
              <a:t>→  </a:t>
            </a:r>
            <a:r>
              <a:rPr sz="1300" b="1">
                <a:solidFill>
                  <a:srgbClr val="FFFFFF"/>
                </a:solidFill>
              </a:rPr>
              <a:t>Legal Agreement Screener: </a:t>
            </a:r>
            <a:r>
              <a:rPr sz="1200">
                <a:solidFill>
                  <a:srgbClr val="94A3B8"/>
                </a:solidFill>
              </a:rPr>
              <a:t>Natural language clause analysis flags one-sided lock-ins, automatic renewal penalties, and territory poaching loopholes.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06B6D4"/>
                </a:solidFill>
              </a:rPr>
              <a:t>→  </a:t>
            </a:r>
            <a:r>
              <a:rPr sz="1300" b="1">
                <a:solidFill>
                  <a:srgbClr val="FFFFFF"/>
                </a:solidFill>
              </a:rPr>
              <a:t>Verified Franchisee Peer Network: </a:t>
            </a:r>
            <a:r>
              <a:rPr sz="1200">
                <a:solidFill>
                  <a:srgbClr val="94A3B8"/>
                </a:solidFill>
              </a:rPr>
              <a:t>Private, vetted community where operational store owners review corporate franchisor support and supply reliability.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121929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❖  IMPACT AND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Target Audience &amp; Macro Impact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Catalyzing entrepreneurship while safeguarding retail and MSME capital.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5486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10 @ SIH Idea submission -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309360"/>
            <a:ext cx="3657600" cy="320040"/>
          </a:xfrm>
          <a:prstGeom prst="rect">
            <a:avLst/>
          </a:prstGeom>
          <a:noFill/>
        </p:spPr>
        <p:txBody>
          <a:bodyPr wrap="none" rIns="0">
            <a:spAutoFit/>
          </a:bodyPr>
          <a:lstStyle/>
          <a:p>
            <a:pPr algn="r">
              <a:defRPr sz="1000" b="1">
                <a:solidFill>
                  <a:srgbClr val="34D399"/>
                </a:solidFill>
                <a:latin typeface="Segoe UI"/>
              </a:defRPr>
            </a:pPr>
            <a:r>
              <a:t>FranchiseIQ | Hack Titans (Host: Charan)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34340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Target Beneficiaries</a:t>
            </a:r>
          </a:p>
          <a:p>
            <a:pPr>
              <a:spcBef>
                <a:spcPts val="1200"/>
              </a:spcBef>
            </a:pPr>
            <a:r>
              <a:rPr b="1">
                <a:solidFill>
                  <a:srgbClr val="10B981"/>
                </a:solidFill>
              </a:rPr>
              <a:t>•  </a:t>
            </a:r>
            <a:r>
              <a:rPr b="1" sz="1250">
                <a:solidFill>
                  <a:srgbClr val="FFFFFF"/>
                </a:solidFill>
              </a:rPr>
              <a:t>Aspiring First-Time Entrepreneurs:</a:t>
            </a:r>
            <a:r>
              <a:rPr sz="1150">
                <a:solidFill>
                  <a:srgbClr val="94A3B8"/>
                </a:solidFill>
              </a:rPr>
              <a:t> Validate business viability and true payback before risking family life savings.</a:t>
            </a:r>
          </a:p>
          <a:p>
            <a:pPr>
              <a:spcBef>
                <a:spcPts val="1200"/>
              </a:spcBef>
            </a:pPr>
            <a:r>
              <a:rPr b="1">
                <a:solidFill>
                  <a:srgbClr val="10B981"/>
                </a:solidFill>
              </a:rPr>
              <a:t>•  </a:t>
            </a:r>
            <a:r>
              <a:rPr b="1" sz="1250">
                <a:solidFill>
                  <a:srgbClr val="FFFFFF"/>
                </a:solidFill>
              </a:rPr>
              <a:t>Multi-Unit Franchise Investors:</a:t>
            </a:r>
            <a:r>
              <a:rPr sz="1150">
                <a:solidFill>
                  <a:srgbClr val="94A3B8"/>
                </a:solidFill>
              </a:rPr>
              <a:t> Optimize capital allocation and portfolio diversification across complementary sectors.</a:t>
            </a:r>
          </a:p>
          <a:p>
            <a:pPr>
              <a:spcBef>
                <a:spcPts val="1200"/>
              </a:spcBef>
            </a:pPr>
            <a:r>
              <a:rPr b="1">
                <a:solidFill>
                  <a:srgbClr val="10B981"/>
                </a:solidFill>
              </a:rPr>
              <a:t>•  </a:t>
            </a:r>
            <a:r>
              <a:rPr b="1" sz="1250">
                <a:solidFill>
                  <a:srgbClr val="FFFFFF"/>
                </a:solidFill>
              </a:rPr>
              <a:t>Tier-2 &amp; Tier-3 City Business Owners:</a:t>
            </a:r>
            <a:r>
              <a:rPr sz="1150">
                <a:solidFill>
                  <a:srgbClr val="94A3B8"/>
                </a:solidFill>
              </a:rPr>
              <a:t> Identify tested, high-yield franchise models engineered for emerging regional markets.</a:t>
            </a:r>
          </a:p>
          <a:p>
            <a:pPr>
              <a:spcBef>
                <a:spcPts val="1200"/>
              </a:spcBef>
            </a:pPr>
            <a:r>
              <a:rPr b="1">
                <a:solidFill>
                  <a:srgbClr val="10B981"/>
                </a:solidFill>
              </a:rPr>
              <a:t>•  </a:t>
            </a:r>
            <a:r>
              <a:rPr b="1" sz="1250">
                <a:solidFill>
                  <a:srgbClr val="FFFFFF"/>
                </a:solidFill>
              </a:rPr>
              <a:t>Credible &amp; Ethical Franchisors:</a:t>
            </a:r>
            <a:r>
              <a:rPr sz="1150">
                <a:solidFill>
                  <a:srgbClr val="94A3B8"/>
                </a:solidFill>
              </a:rPr>
              <a:t> Attract well-capitalized, serious franchise partners through transparent audited verification.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91640"/>
            <a:ext cx="5242255" cy="434340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Economic &amp; Social Impact</a:t>
            </a:r>
          </a:p>
          <a:p>
            <a:pPr>
              <a:spcBef>
                <a:spcPts val="1200"/>
              </a:spcBef>
            </a:pPr>
            <a:r>
              <a:rPr b="1">
                <a:solidFill>
                  <a:srgbClr val="06B6D4"/>
                </a:solidFill>
              </a:rPr>
              <a:t>✔  </a:t>
            </a:r>
            <a:r>
              <a:rPr b="1" sz="1250">
                <a:solidFill>
                  <a:srgbClr val="FFFFFF"/>
                </a:solidFill>
              </a:rPr>
              <a:t>Reduces Small Business Failure Rates:</a:t>
            </a:r>
            <a:r>
              <a:rPr sz="1150">
                <a:solidFill>
                  <a:srgbClr val="94A3B8"/>
                </a:solidFill>
              </a:rPr>
              <a:t> Eliminates the high rate of premature franchise shutdowns caused by predatory and misleading sales pitches.</a:t>
            </a:r>
          </a:p>
          <a:p>
            <a:pPr>
              <a:spcBef>
                <a:spcPts val="1200"/>
              </a:spcBef>
            </a:pPr>
            <a:r>
              <a:rPr b="1">
                <a:solidFill>
                  <a:srgbClr val="06B6D4"/>
                </a:solidFill>
              </a:rPr>
              <a:t>✔  </a:t>
            </a:r>
            <a:r>
              <a:rPr b="1" sz="1250">
                <a:solidFill>
                  <a:srgbClr val="FFFFFF"/>
                </a:solidFill>
              </a:rPr>
              <a:t>Fosters Local Employment &amp; MSME Growth:</a:t>
            </a:r>
            <a:r>
              <a:rPr sz="1150">
                <a:solidFill>
                  <a:srgbClr val="94A3B8"/>
                </a:solidFill>
              </a:rPr>
              <a:t> Every successful franchise outlet generates 6–18 sustained, dignified local retail jobs.</a:t>
            </a:r>
          </a:p>
          <a:p>
            <a:pPr>
              <a:spcBef>
                <a:spcPts val="1200"/>
              </a:spcBef>
            </a:pPr>
            <a:r>
              <a:rPr b="1">
                <a:solidFill>
                  <a:srgbClr val="06B6D4"/>
                </a:solidFill>
              </a:rPr>
              <a:t>✔  </a:t>
            </a:r>
            <a:r>
              <a:rPr b="1" sz="1250">
                <a:solidFill>
                  <a:srgbClr val="FFFFFF"/>
                </a:solidFill>
              </a:rPr>
              <a:t>Financial Inclusion for New Retailers:</a:t>
            </a:r>
            <a:r>
              <a:rPr sz="1150">
                <a:solidFill>
                  <a:srgbClr val="94A3B8"/>
                </a:solidFill>
              </a:rPr>
              <a:t> Equips regular citizens with Wall Street-caliber financial due diligence tools.</a:t>
            </a:r>
          </a:p>
          <a:p>
            <a:pPr>
              <a:spcBef>
                <a:spcPts val="1200"/>
              </a:spcBef>
            </a:pPr>
            <a:r>
              <a:rPr b="1">
                <a:solidFill>
                  <a:srgbClr val="06B6D4"/>
                </a:solidFill>
              </a:rPr>
              <a:t>✔  </a:t>
            </a:r>
            <a:r>
              <a:rPr b="1" sz="1250">
                <a:solidFill>
                  <a:srgbClr val="FFFFFF"/>
                </a:solidFill>
              </a:rPr>
              <a:t>Market Accountability &amp; Transparency:</a:t>
            </a:r>
            <a:r>
              <a:rPr sz="1150">
                <a:solidFill>
                  <a:srgbClr val="94A3B8"/>
                </a:solidFill>
              </a:rPr>
              <a:t> Incentivizes franchisors to compete on unit profitability and franchisee satisfaction rather than marketing hype.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121929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❖  RESEARCH AND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Research Areas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Academic and empirical domains underpinning the FranchiseIQ methodology.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5486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11 @ SIH Idea submission -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309360"/>
            <a:ext cx="3657600" cy="320040"/>
          </a:xfrm>
          <a:prstGeom prst="rect">
            <a:avLst/>
          </a:prstGeom>
          <a:noFill/>
        </p:spPr>
        <p:txBody>
          <a:bodyPr wrap="none" rIns="0">
            <a:spAutoFit/>
          </a:bodyPr>
          <a:lstStyle/>
          <a:p>
            <a:pPr algn="r">
              <a:defRPr sz="1000" b="1">
                <a:solidFill>
                  <a:srgbClr val="34D399"/>
                </a:solidFill>
                <a:latin typeface="Segoe UI"/>
              </a:defRPr>
            </a:pPr>
            <a:r>
              <a:t>FranchiseIQ | Hack Titans (Host: Charan)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429000" cy="434340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FINANCIAL REPRESENTATION SCIENCE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500" b="1">
                <a:solidFill>
                  <a:srgbClr val="FFFFFF"/>
                </a:solidFill>
              </a:defRPr>
            </a:pPr>
            <a:r>
              <a:t>Franchise Economics &amp; Unit Modeling</a:t>
            </a:r>
          </a:p>
          <a:p>
            <a:pPr>
              <a:spcBef>
                <a:spcPts val="800"/>
              </a:spcBef>
              <a:defRPr sz="1150">
                <a:solidFill>
                  <a:srgbClr val="94A3B8"/>
                </a:solidFill>
              </a:defRPr>
            </a:pPr>
            <a:r>
              <a:t>• Item 19 FDD historical performance representations and disclosure standards.</a:t>
            </a:r>
          </a:p>
          <a:p>
            <a:pPr>
              <a:spcBef>
                <a:spcPts val="800"/>
              </a:spcBef>
              <a:defRPr sz="1150">
                <a:solidFill>
                  <a:srgbClr val="94A3B8"/>
                </a:solidFill>
              </a:defRPr>
            </a:pPr>
            <a:r>
              <a:t>• Working capital depletion patterns during ramp-up in retail &amp; QSR units.</a:t>
            </a:r>
          </a:p>
          <a:p>
            <a:pPr>
              <a:spcBef>
                <a:spcPts val="800"/>
              </a:spcBef>
              <a:defRPr sz="1150">
                <a:solidFill>
                  <a:srgbClr val="94A3B8"/>
                </a:solidFill>
              </a:defRPr>
            </a:pPr>
            <a:r>
              <a:t>• Franchisor opportunistic behavior, royalty escalation, and territorial cannibalization.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91640"/>
            <a:ext cx="3429000" cy="434340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ALGORITHMIC DISCREPANCY DETECTION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500" b="1">
                <a:solidFill>
                  <a:srgbClr val="FFFFFF"/>
                </a:solidFill>
              </a:defRPr>
            </a:pPr>
            <a:r>
              <a:t>AI Financial Analytics &amp; Claim Auditing</a:t>
            </a:r>
          </a:p>
          <a:p>
            <a:pPr>
              <a:spcBef>
                <a:spcPts val="800"/>
              </a:spcBef>
              <a:defRPr sz="1150">
                <a:solidFill>
                  <a:srgbClr val="94A3B8"/>
                </a:solidFill>
              </a:defRPr>
            </a:pPr>
            <a:r>
              <a:t>• LLM-assisted semi-structured financial document parsing and balance sheet extraction.</a:t>
            </a:r>
          </a:p>
          <a:p>
            <a:pPr>
              <a:spcBef>
                <a:spcPts val="800"/>
              </a:spcBef>
              <a:defRPr sz="1150">
                <a:solidFill>
                  <a:srgbClr val="94A3B8"/>
                </a:solidFill>
              </a:defRPr>
            </a:pPr>
            <a:r>
              <a:t>• Monte Carlo simulations for break-even duration under demand variance.</a:t>
            </a:r>
          </a:p>
          <a:p>
            <a:pPr>
              <a:spcBef>
                <a:spcPts val="800"/>
              </a:spcBef>
              <a:defRPr sz="1150">
                <a:solidFill>
                  <a:srgbClr val="94A3B8"/>
                </a:solidFill>
              </a:defRPr>
            </a:pPr>
            <a:r>
              <a:t>• Risk scoring models based on local competitive density and demographic fit.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91640"/>
            <a:ext cx="3429000" cy="434340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000" b="1">
                <a:solidFill>
                  <a:srgbClr val="34D399"/>
                </a:solidFill>
              </a:defRPr>
            </a:pPr>
            <a:r>
              <a:t>DECENTRALIZED REPUTATION NETWORKS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500" b="1">
                <a:solidFill>
                  <a:srgbClr val="FFFFFF"/>
                </a:solidFill>
              </a:defRPr>
            </a:pPr>
            <a:r>
              <a:t>Trust, Verification &amp; Governance Protocols</a:t>
            </a:r>
          </a:p>
          <a:p>
            <a:pPr>
              <a:spcBef>
                <a:spcPts val="800"/>
              </a:spcBef>
              <a:defRPr sz="1150">
                <a:solidFill>
                  <a:srgbClr val="94A3B8"/>
                </a:solidFill>
              </a:defRPr>
            </a:pPr>
            <a:r>
              <a:t>• Double-blind peer review mechanisms preventing franchisor retribution.</a:t>
            </a:r>
          </a:p>
          <a:p>
            <a:pPr>
              <a:spcBef>
                <a:spcPts val="800"/>
              </a:spcBef>
              <a:defRPr sz="1150">
                <a:solidFill>
                  <a:srgbClr val="94A3B8"/>
                </a:solidFill>
              </a:defRPr>
            </a:pPr>
            <a:r>
              <a:t>• Immutable audit trail logging for franchise agreement compliance checks.</a:t>
            </a:r>
          </a:p>
          <a:p>
            <a:pPr>
              <a:spcBef>
                <a:spcPts val="800"/>
              </a:spcBef>
              <a:defRPr sz="1150">
                <a:solidFill>
                  <a:srgbClr val="94A3B8"/>
                </a:solidFill>
              </a:defRPr>
            </a:pPr>
            <a:r>
              <a:t>• Investor protection standards in small business administration lending.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121929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100" b="1">
                <a:solidFill>
                  <a:srgbClr val="34D399"/>
                </a:solidFill>
                <a:latin typeface="Segoe UI"/>
              </a:defRPr>
            </a:pPr>
            <a:r>
              <a:t>❖  RESEARCH AND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Reference Sources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Key regulatory, institutional, and research references supporting FranchiseIQ.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5486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12 @ SIH Idea submission -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309360"/>
            <a:ext cx="3657600" cy="320040"/>
          </a:xfrm>
          <a:prstGeom prst="rect">
            <a:avLst/>
          </a:prstGeom>
          <a:noFill/>
        </p:spPr>
        <p:txBody>
          <a:bodyPr wrap="none" rIns="0">
            <a:spAutoFit/>
          </a:bodyPr>
          <a:lstStyle/>
          <a:p>
            <a:pPr algn="r">
              <a:defRPr sz="1000" b="1">
                <a:solidFill>
                  <a:srgbClr val="34D399"/>
                </a:solidFill>
                <a:latin typeface="Segoe UI"/>
              </a:defRPr>
            </a:pPr>
            <a:r>
              <a:t>FranchiseIQ | Hack Titans (Host: Charan)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434340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spcBef>
                <a:spcPts val="0"/>
              </a:spcBef>
            </a:pPr>
            <a:r>
              <a:rPr sz="1300"/>
              <a:t>📚  </a:t>
            </a:r>
            <a:r>
              <a:rPr sz="1300" b="1">
                <a:solidFill>
                  <a:srgbClr val="34D399"/>
                </a:solidFill>
              </a:rPr>
              <a:t>International Franchise Association (IFA) — </a:t>
            </a:r>
            <a:r>
              <a:rPr sz="1200">
                <a:solidFill>
                  <a:srgbClr val="94A3B8"/>
                </a:solidFill>
              </a:rPr>
              <a:t>Global franchise benchmarks, ethical disclosure codes, and unit performance representation standards.</a:t>
            </a:r>
          </a:p>
          <a:p>
            <a:pPr>
              <a:spcBef>
                <a:spcPts val="1200"/>
              </a:spcBef>
            </a:pPr>
            <a:r>
              <a:rPr sz="1300"/>
              <a:t>📚  </a:t>
            </a:r>
            <a:r>
              <a:rPr sz="1300" b="1">
                <a:solidFill>
                  <a:srgbClr val="34D399"/>
                </a:solidFill>
              </a:rPr>
              <a:t>Franchise India &amp; CII Retail Council Reports — </a:t>
            </a:r>
            <a:r>
              <a:rPr sz="1200">
                <a:solidFill>
                  <a:srgbClr val="94A3B8"/>
                </a:solidFill>
              </a:rPr>
              <a:t>Indian franchise industry statistical reviews, sector growth rates, and MSME capital investment dynamics.</a:t>
            </a:r>
          </a:p>
          <a:p>
            <a:pPr>
              <a:spcBef>
                <a:spcPts val="1200"/>
              </a:spcBef>
            </a:pPr>
            <a:r>
              <a:rPr sz="1300"/>
              <a:t>📚  </a:t>
            </a:r>
            <a:r>
              <a:rPr sz="1300" b="1">
                <a:solidFill>
                  <a:srgbClr val="34D399"/>
                </a:solidFill>
              </a:rPr>
              <a:t>FTC Franchise Rule (16 CFR Part 436) — </a:t>
            </a:r>
            <a:r>
              <a:rPr sz="1200">
                <a:solidFill>
                  <a:srgbClr val="94A3B8"/>
                </a:solidFill>
              </a:rPr>
              <a:t>Statutory framework governing Franchise Disclosure Documents (FDDs) and financial claims validation.</a:t>
            </a:r>
          </a:p>
          <a:p>
            <a:pPr>
              <a:spcBef>
                <a:spcPts val="1200"/>
              </a:spcBef>
            </a:pPr>
            <a:r>
              <a:rPr sz="1300"/>
              <a:t>📚  </a:t>
            </a:r>
            <a:r>
              <a:rPr sz="1300" b="1">
                <a:solidFill>
                  <a:srgbClr val="34D399"/>
                </a:solidFill>
              </a:rPr>
              <a:t>Academic Research on Franchise Failure Rates — </a:t>
            </a:r>
            <a:r>
              <a:rPr sz="1200">
                <a:solidFill>
                  <a:srgbClr val="94A3B8"/>
                </a:solidFill>
              </a:rPr>
              <a:t>Empirical studies on franchisor survivorship bias, unit mortality rates, and royalty fee structures (Harvard / Wharton).</a:t>
            </a:r>
          </a:p>
          <a:p>
            <a:pPr>
              <a:spcBef>
                <a:spcPts val="1200"/>
              </a:spcBef>
            </a:pPr>
            <a:r>
              <a:rPr sz="1300"/>
              <a:t>📚  </a:t>
            </a:r>
            <a:r>
              <a:rPr sz="1300" b="1">
                <a:solidFill>
                  <a:srgbClr val="34D399"/>
                </a:solidFill>
              </a:rPr>
              <a:t>Ministry of MSME &amp; DPIIT (Startup India) — </a:t>
            </a:r>
            <a:r>
              <a:rPr sz="1200">
                <a:solidFill>
                  <a:srgbClr val="94A3B8"/>
                </a:solidFill>
              </a:rPr>
              <a:t>Government data on small enterprise credit access, retail employment creation, and entrepreneurship initiatives.</a:t>
            </a:r>
          </a:p>
          <a:p>
            <a:pPr>
              <a:spcBef>
                <a:spcPts val="1200"/>
              </a:spcBef>
            </a:pPr>
            <a:r>
              <a:rPr sz="1300"/>
              <a:t>📚  </a:t>
            </a:r>
            <a:r>
              <a:rPr sz="1300" b="1">
                <a:solidFill>
                  <a:srgbClr val="34D399"/>
                </a:solidFill>
              </a:rPr>
              <a:t>Quantitative Finance &amp; Sensitivity Analysis Literature — </a:t>
            </a:r>
            <a:r>
              <a:rPr sz="1200">
                <a:solidFill>
                  <a:srgbClr val="94A3B8"/>
                </a:solidFill>
              </a:rPr>
              <a:t>Stochastic methodologies for small-business break-even forecasting and risk attribution modeling.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